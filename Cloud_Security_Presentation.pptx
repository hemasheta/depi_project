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Cloud Security: Protecting Your Digital Sky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 Simple Guide to Safeguarding Your Data in the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 to Cloud Security</a:t>
            </a:r>
          </a:p>
          <a:p>
            <a:pPr>
              <a:spcBef>
                <a:spcPts val="1200"/>
              </a:spcBef>
              <a:defRPr sz="2400"/>
            </a:pPr>
            <a:r>
              <a:t>Why It Matters</a:t>
            </a:r>
          </a:p>
          <a:p>
            <a:pPr>
              <a:spcBef>
                <a:spcPts val="1200"/>
              </a:spcBef>
              <a:defRPr sz="2400"/>
            </a:pPr>
            <a:r>
              <a:t>Key Threats and Risks</a:t>
            </a:r>
          </a:p>
          <a:p>
            <a:pPr>
              <a:spcBef>
                <a:spcPts val="1200"/>
              </a:spcBef>
              <a:defRPr sz="2400"/>
            </a:pPr>
            <a:r>
              <a:t>Best Practices</a:t>
            </a:r>
          </a:p>
          <a:p>
            <a:pPr>
              <a:spcBef>
                <a:spcPts val="1200"/>
              </a:spcBef>
              <a:defRPr sz="2400"/>
            </a:pPr>
            <a:r>
              <a:t>Tools and Technologies</a:t>
            </a:r>
          </a:p>
          <a:p>
            <a:pPr>
              <a:spcBef>
                <a:spcPts val="1200"/>
              </a:spcBef>
              <a:defRPr sz="2400"/>
            </a:pPr>
            <a:r>
              <a:t>Real-World Examples</a:t>
            </a:r>
          </a:p>
          <a:p>
            <a:pPr>
              <a:spcBef>
                <a:spcPts val="1200"/>
              </a:spcBef>
              <a:defRPr sz="2400"/>
            </a:pPr>
            <a:r>
              <a:t>Future Trends</a:t>
            </a:r>
          </a:p>
          <a:p>
            <a:pPr>
              <a:spcBef>
                <a:spcPts val="1200"/>
              </a:spcBef>
              <a:defRPr sz="2400"/>
            </a:pPr>
            <a: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t>What is Cloud Security?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/>
            </a:pPr>
            <a:r>
              <a:t>Definition</a:t>
            </a:r>
          </a:p>
          <a:p>
            <a:pPr>
              <a:spcBef>
                <a:spcPts val="1200"/>
              </a:spcBef>
              <a:defRPr sz="2000"/>
            </a:pPr>
            <a:r>
              <a:t>Cloud security protects data, applications, and infrastructure in cloud environments (AWS, Azure, Google Cloud) from threats.</a:t>
            </a:r>
          </a:p>
          <a:p>
            <a:pPr>
              <a:spcBef>
                <a:spcPts val="2000"/>
              </a:spcBef>
              <a:defRPr b="1" sz="2400"/>
            </a:pPr>
            <a:r>
              <a:t>Analogy: The Cloud as a Digital Sky</a:t>
            </a:r>
          </a:p>
          <a:p>
            <a:pPr>
              <a:spcBef>
                <a:spcPts val="1200"/>
              </a:spcBef>
              <a:defRPr sz="2000"/>
            </a:pPr>
            <a:r>
              <a:t>Think of the cloud as a vast digital sky—security is the 'air traffic control' ensuring safe flights for your data.</a:t>
            </a:r>
          </a:p>
          <a:p>
            <a:pPr>
              <a:spcBef>
                <a:spcPts val="2000"/>
              </a:spcBef>
              <a:defRPr b="1" sz="2400"/>
            </a:pPr>
            <a:r>
              <a:t>Key Components</a:t>
            </a:r>
          </a:p>
          <a:p>
            <a:pPr lvl="1">
              <a:defRPr sz="1800"/>
            </a:pPr>
            <a:r>
              <a:t>Identity and access management</a:t>
            </a:r>
          </a:p>
          <a:p>
            <a:pPr lvl="1">
              <a:defRPr sz="1800"/>
            </a:pPr>
            <a:r>
              <a:t>Data encryption</a:t>
            </a:r>
          </a:p>
          <a:p>
            <a:pPr lvl="1">
              <a:defRPr sz="1800"/>
            </a:pPr>
            <a:r>
              <a:t>Network security</a:t>
            </a:r>
          </a:p>
          <a:p>
            <a:pPr lvl="1">
              <a:defRPr sz="1800"/>
            </a:pPr>
            <a:r>
              <a:t>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t>Why Cloud Security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/>
            </a:pPr>
            <a:r>
              <a:t>Benefits of Cloud</a:t>
            </a:r>
          </a:p>
          <a:p>
            <a:pPr>
              <a:defRPr sz="2000"/>
            </a:pPr>
            <a:r>
              <a:t>Scalability, cost savings, remote access—but introduces risks like data breaches</a:t>
            </a:r>
          </a:p>
          <a:p>
            <a:pPr>
              <a:spcBef>
                <a:spcPts val="2000"/>
              </a:spcBef>
              <a:defRPr b="1" sz="2400"/>
            </a:pPr>
            <a:r>
              <a:t>Critical Statistics</a:t>
            </a:r>
          </a:p>
          <a:p>
            <a:pPr lvl="1">
              <a:defRPr sz="2000"/>
            </a:pPr>
            <a:r>
              <a:t>82% of organizations experienced a cloud security incident in 2023 (IBM report)</a:t>
            </a:r>
          </a:p>
          <a:p>
            <a:pPr lvl="1">
              <a:defRPr sz="2000"/>
            </a:pPr>
            <a:r>
              <a:t>Without security: fines, data loss, reputational damage</a:t>
            </a:r>
          </a:p>
          <a:p>
            <a:pPr>
              <a:spcBef>
                <a:spcPts val="2000"/>
              </a:spcBef>
              <a:defRPr b="1" sz="2400"/>
            </a:pPr>
            <a:r>
              <a:t>Real Impact</a:t>
            </a:r>
          </a:p>
          <a:p>
            <a:pPr>
              <a:defRPr sz="2000" i="1"/>
            </a:pPr>
            <a:r>
              <a:t>Losing customer data is like a storm wiping out your digital assets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t>Key Threats and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/>
            </a:pPr>
            <a:r>
              <a:t>Common Threats</a:t>
            </a:r>
          </a:p>
          <a:p>
            <a:pPr lvl="1">
              <a:spcBef>
                <a:spcPts val="800"/>
              </a:spcBef>
              <a:defRPr sz="1800"/>
            </a:pPr>
            <a:r>
              <a:t>Data breaches - unauthorized access to sensitive information</a:t>
            </a:r>
          </a:p>
          <a:p>
            <a:pPr lvl="1">
              <a:spcBef>
                <a:spcPts val="800"/>
              </a:spcBef>
              <a:defRPr sz="1800"/>
            </a:pPr>
            <a:r>
              <a:t>DDoS attacks - overwhelming servers like a traffic jam</a:t>
            </a:r>
          </a:p>
          <a:p>
            <a:pPr lvl="1">
              <a:spcBef>
                <a:spcPts val="800"/>
              </a:spcBef>
              <a:defRPr sz="1800"/>
            </a:pPr>
            <a:r>
              <a:t>Insider threats - employees or partners gone rogue</a:t>
            </a:r>
          </a:p>
          <a:p>
            <a:pPr lvl="1">
              <a:spcBef>
                <a:spcPts val="800"/>
              </a:spcBef>
              <a:defRPr sz="1800"/>
            </a:pPr>
            <a:r>
              <a:t>Misconfigurations - accidental exposures (leaving doors unlocked)</a:t>
            </a:r>
          </a:p>
          <a:p>
            <a:pPr>
              <a:spcBef>
                <a:spcPts val="2000"/>
              </a:spcBef>
              <a:defRPr b="1" sz="2400"/>
            </a:pPr>
            <a:r>
              <a:t>The CIA Triad</a:t>
            </a:r>
          </a:p>
          <a:p>
            <a:pPr lvl="1">
              <a:defRPr sz="1800"/>
            </a:pPr>
            <a:r>
              <a:t>Confidentiality</a:t>
            </a:r>
          </a:p>
          <a:p>
            <a:pPr lvl="1">
              <a:defRPr sz="1800"/>
            </a:pPr>
            <a:r>
              <a:t>Integrity</a:t>
            </a:r>
          </a:p>
          <a:p>
            <a:pPr lvl="1">
              <a:defRPr sz="1800"/>
            </a:pPr>
            <a:r>
              <a:t>Availability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t>Best Practices -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/>
            </a:pPr>
            <a:r>
              <a:t>1. Secure Access</a:t>
            </a:r>
          </a:p>
          <a:p>
            <a:pPr lvl="1">
              <a:defRPr sz="2000"/>
            </a:pPr>
            <a:r>
              <a:t>Use multi-factor authentication (MFA)</a:t>
            </a:r>
          </a:p>
          <a:p>
            <a:pPr lvl="1">
              <a:defRPr sz="2000"/>
            </a:pPr>
            <a:r>
              <a:t>Implement least-privilege access—only give keys to those who need them</a:t>
            </a:r>
          </a:p>
          <a:p>
            <a:pPr>
              <a:spcBef>
                <a:spcPts val="2000"/>
              </a:spcBef>
              <a:defRPr b="1" sz="2400"/>
            </a:pPr>
            <a:r>
              <a:t>2. Encrypt Data</a:t>
            </a:r>
          </a:p>
          <a:p>
            <a:pPr lvl="1">
              <a:defRPr sz="2000"/>
            </a:pPr>
            <a:r>
              <a:t>Protect data in transit and at rest</a:t>
            </a:r>
          </a:p>
          <a:p>
            <a:pPr lvl="1">
              <a:defRPr sz="2000" i="1"/>
            </a:pPr>
            <a:r>
              <a:t>Like locking valuables in a safe</a:t>
            </a:r>
          </a:p>
          <a:p>
            <a:pPr>
              <a:spcBef>
                <a:spcPts val="2000"/>
              </a:spcBef>
              <a:defRPr b="1" sz="2400"/>
            </a:pPr>
            <a:r>
              <a:t>3. Regular Audits</a:t>
            </a:r>
          </a:p>
          <a:p>
            <a:pPr lvl="1">
              <a:defRPr sz="2000"/>
            </a:pPr>
            <a:r>
              <a:t>Monitor logs continuously</a:t>
            </a:r>
          </a:p>
          <a:p>
            <a:pPr lvl="1">
              <a:defRPr sz="2000"/>
            </a:pPr>
            <a:r>
              <a:t>Conduct penetration testing to find vulnerabilities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t>Best Practices -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/>
            </a:pPr>
            <a:r>
              <a:t>4. Compliance and Policies</a:t>
            </a:r>
          </a:p>
          <a:p>
            <a:pPr lvl="1">
              <a:defRPr sz="2000"/>
            </a:pPr>
            <a:r>
              <a:t>Follow standards like ISO 27001 or NIST</a:t>
            </a:r>
          </a:p>
          <a:p>
            <a:pPr lvl="1">
              <a:defRPr sz="2000"/>
            </a:pPr>
            <a:r>
              <a:t>Train employees on security hygiene</a:t>
            </a:r>
          </a:p>
          <a:p>
            <a:pPr>
              <a:spcBef>
                <a:spcPts val="2000"/>
              </a:spcBef>
              <a:defRPr b="1" sz="2400"/>
            </a:pPr>
            <a:r>
              <a:t>5. Incident Response</a:t>
            </a:r>
          </a:p>
          <a:p>
            <a:pPr lvl="1">
              <a:defRPr sz="2000"/>
            </a:pPr>
            <a:r>
              <a:t>Have a plan for breaches: Detect → Respond → Recover</a:t>
            </a:r>
          </a:p>
          <a:p>
            <a:pPr>
              <a:spcBef>
                <a:spcPts val="2000"/>
              </a:spcBef>
              <a:defRPr b="1" sz="2400"/>
            </a:pPr>
            <a:r>
              <a:t>6. Zero Trust Model</a:t>
            </a:r>
          </a:p>
          <a:p>
            <a:pPr lvl="1">
              <a:defRPr sz="2000" i="1"/>
            </a:pPr>
            <a:r>
              <a:t>"Never trust, always verify"</a:t>
            </a:r>
          </a:p>
          <a:p>
            <a:pPr lvl="1">
              <a:defRPr sz="2000"/>
            </a:pPr>
            <a:r>
              <a:t>Assume nothing is secure by default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t>Tools and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/>
            </a:pPr>
            <a:r>
              <a:t>Popular Security Tools</a:t>
            </a:r>
          </a:p>
          <a:p>
            <a:pPr lvl="1">
              <a:spcBef>
                <a:spcPts val="800"/>
              </a:spcBef>
              <a:defRPr sz="2000"/>
            </a:pPr>
            <a:r>
              <a:t>AWS GuardDuty - Threat detection</a:t>
            </a:r>
          </a:p>
          <a:p>
            <a:pPr lvl="1">
              <a:spcBef>
                <a:spcPts val="800"/>
              </a:spcBef>
              <a:defRPr sz="2000"/>
            </a:pPr>
            <a:r>
              <a:t>Azure Security Center - Monitoring</a:t>
            </a:r>
          </a:p>
          <a:p>
            <a:pPr lvl="1">
              <a:spcBef>
                <a:spcPts val="800"/>
              </a:spcBef>
              <a:defRPr sz="2000"/>
            </a:pPr>
            <a:r>
              <a:t>Cloudflare - DDoS protection</a:t>
            </a:r>
          </a:p>
          <a:p>
            <a:pPr lvl="1">
              <a:spcBef>
                <a:spcPts val="800"/>
              </a:spcBef>
              <a:defRPr sz="2000"/>
            </a:pPr>
            <a:r>
              <a:t>Vault / AWS KMS - Encryption management</a:t>
            </a:r>
          </a:p>
          <a:p>
            <a:pPr>
              <a:spcBef>
                <a:spcPts val="2000"/>
              </a:spcBef>
              <a:defRPr b="1" sz="2400"/>
            </a:pPr>
            <a:r>
              <a:t>Emerging Technologies</a:t>
            </a:r>
          </a:p>
          <a:p>
            <a:pPr lvl="1">
              <a:defRPr sz="2000"/>
            </a:pPr>
            <a:r>
              <a:t>AI-driven security for anomaly detection</a:t>
            </a:r>
          </a:p>
          <a:p>
            <a:pPr>
              <a:spcBef>
                <a:spcPts val="2000"/>
              </a:spcBef>
              <a:defRPr sz="1800" i="1"/>
            </a:pPr>
            <a:r>
              <a:t>💡 Tip: Start free with cloud provider tools; integrate with SIEM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t>Real-World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/>
            </a:pPr>
            <a:r>
              <a:t>Success Story: Capital One (2019)</a:t>
            </a:r>
          </a:p>
          <a:p>
            <a:pPr lvl="1">
              <a:defRPr sz="2000"/>
            </a:pPr>
            <a:r>
              <a:t>Breach led to better encryption practices</a:t>
            </a:r>
          </a:p>
          <a:p>
            <a:pPr lvl="1">
              <a:defRPr sz="2000"/>
            </a:pPr>
            <a:r>
              <a:t>Now uses advanced AI security systems</a:t>
            </a:r>
          </a:p>
          <a:p>
            <a:pPr>
              <a:spcBef>
                <a:spcPts val="2000"/>
              </a:spcBef>
              <a:defRPr b="1" sz="2400"/>
            </a:pPr>
            <a:r>
              <a:t>Lesson Learned: SolarWinds (2020)</a:t>
            </a:r>
          </a:p>
          <a:p>
            <a:pPr lvl="1">
              <a:defRPr sz="2000"/>
            </a:pPr>
            <a:r>
              <a:t>Highlighted supply chain risks</a:t>
            </a:r>
          </a:p>
          <a:p>
            <a:pPr lvl="1">
              <a:defRPr sz="2000"/>
            </a:pPr>
            <a:r>
              <a:t>Emphasized importance of vendor vetting</a:t>
            </a:r>
          </a:p>
          <a:p>
            <a:pPr>
              <a:spcBef>
                <a:spcPts val="2000"/>
              </a:spcBef>
              <a:defRPr b="1" sz="2400"/>
            </a:pPr>
            <a:r>
              <a:t>Key Takeaway</a:t>
            </a:r>
          </a:p>
          <a:p>
            <a:pPr>
              <a:defRPr sz="2000" i="1"/>
            </a:pPr>
            <a:r>
              <a:t>Learn from incidents to strengthen your security posture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t>Future Trends in Cloud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/>
            </a:pPr>
            <a:r>
              <a:t>AI and Automation</a:t>
            </a:r>
          </a:p>
          <a:p>
            <a:pPr lvl="1">
              <a:defRPr sz="2000"/>
            </a:pPr>
            <a:r>
              <a:t>Smarter threat prediction and response</a:t>
            </a:r>
          </a:p>
          <a:p>
            <a:pPr>
              <a:spcBef>
                <a:spcPts val="1500"/>
              </a:spcBef>
              <a:defRPr b="1" sz="2400"/>
            </a:pPr>
            <a:r>
              <a:t>Edge Computing Security</a:t>
            </a:r>
          </a:p>
          <a:p>
            <a:pPr lvl="1">
              <a:defRPr sz="2000"/>
            </a:pPr>
            <a:r>
              <a:t>Protecting data closer to users</a:t>
            </a:r>
          </a:p>
          <a:p>
            <a:pPr>
              <a:spcBef>
                <a:spcPts val="1500"/>
              </a:spcBef>
              <a:defRPr b="1" sz="2400"/>
            </a:pPr>
            <a:r>
              <a:t>Quantum-Resistant Encryption</a:t>
            </a:r>
          </a:p>
          <a:p>
            <a:pPr lvl="1">
              <a:defRPr sz="2000"/>
            </a:pPr>
            <a:r>
              <a:t>Preparing for quantum computing threats</a:t>
            </a:r>
          </a:p>
          <a:p>
            <a:pPr>
              <a:spcBef>
                <a:spcPts val="2000"/>
              </a:spcBef>
              <a:defRPr sz="1800" i="1"/>
            </a:pPr>
            <a:r>
              <a:t>⚠️ Prediction: By 2025, 99% of cloud failures will be due to human error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/>
            </a:pPr>
            <a:r>
              <a:t>Key Takeaway</a:t>
            </a:r>
          </a:p>
          <a:p>
            <a:pPr>
              <a:spcBef>
                <a:spcPts val="1200"/>
              </a:spcBef>
              <a:defRPr sz="2200"/>
            </a:pPr>
            <a:r>
              <a:t>Cloud security isn't optional—it's essential for a safe digital sky</a:t>
            </a:r>
          </a:p>
          <a:p>
            <a:pPr>
              <a:spcBef>
                <a:spcPts val="2000"/>
              </a:spcBef>
              <a:defRPr b="1" sz="2400"/>
            </a:pPr>
            <a:r>
              <a:t>Call to Action</a:t>
            </a:r>
          </a:p>
          <a:p>
            <a:pPr lvl="1">
              <a:spcBef>
                <a:spcPts val="800"/>
              </a:spcBef>
              <a:defRPr sz="2000"/>
            </a:pPr>
            <a:r>
              <a:t>Start small: Implement MFA today</a:t>
            </a:r>
          </a:p>
          <a:p>
            <a:pPr lvl="1">
              <a:spcBef>
                <a:spcPts val="800"/>
              </a:spcBef>
              <a:defRPr sz="2000"/>
            </a:pPr>
            <a:r>
              <a:t>Conduct regular security audits</a:t>
            </a:r>
          </a:p>
          <a:p>
            <a:pPr lvl="1">
              <a:spcBef>
                <a:spcPts val="800"/>
              </a:spcBef>
              <a:defRPr sz="2000"/>
            </a:pPr>
            <a:r>
              <a:t>Assess your cloud setup</a:t>
            </a:r>
          </a:p>
          <a:p>
            <a:pPr lvl="1">
              <a:spcBef>
                <a:spcPts val="800"/>
              </a:spcBef>
              <a:defRPr sz="2000"/>
            </a:pPr>
            <a:r>
              <a:t>Contact security experts if needed</a:t>
            </a:r>
          </a:p>
          <a:p>
            <a:pPr>
              <a:spcBef>
                <a:spcPts val="2500"/>
              </a:spcBef>
              <a:defRPr sz="2000" i="1"/>
            </a:pPr>
            <a:r>
              <a:t>"Security is not a product, but a process." - Bruce Schneier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 &amp;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Thank you 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